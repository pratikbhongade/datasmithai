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0B4D8"/>
                </a:solidFill>
              </a:rPr>
              <a:t>DataSmith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Multi-Modal Agentic AI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29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BBCC"/>
                </a:solidFill>
              </a:rPr>
              <a:t>Text  ·  Images  ·  PDFs  ·  Audio  ·  YouTube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977639"/>
            <a:ext cx="487375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CC"/>
                </a:solidFill>
              </a:rPr>
              <a:t>Built with FastAPI  ·  LangChain  ·  Groq  ·  Qdrant  ·  Whisper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</a:rPr>
              <a:t>Why does this need to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371600"/>
            <a:ext cx="10863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Users deal with content in many formats — PDFs, images, audio, videos — with no single tool to handle all of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04288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194560"/>
            <a:ext cx="10863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Most AI assistants are stateless: they can't refer back to a file you uploaded two messages ago.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27248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017520"/>
            <a:ext cx="10863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Generic chatbots guess at your intent instead of asking a clarifying question when something is unclear.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50208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840480"/>
            <a:ext cx="10863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Switching between transcription tools, OCR tools, and summarizers is slow and fragmented.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73168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663440"/>
            <a:ext cx="10863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There is no lightweight, self-hosted alternative that avoids sending sensitive documents to external cloud APIs.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Solution — DataSmith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</a:rPr>
              <a:t>One agent. Any file. Any task.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F0F8"/>
                </a:solidFill>
              </a:rPr>
              <a:t>DataSmith AI is an agentic application that accepts any file type, extracts its content, understands what the user wants to do, and autonomously executes the right task — or asks a smart follow-up question if the intent is unclear.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5669280" cy="1828800"/>
          </a:xfrm>
          <a:prstGeom prst="rect">
            <a:avLst/>
          </a:prstGeom>
          <a:solidFill>
            <a:srgbClr val="102A43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2560320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Any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84585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Text prompts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16589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JPG / PNG 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48593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PDFs (text + scanned)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80597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MP3 / WAV / M4A audio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041554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AF0F8"/>
                </a:solidFill>
              </a:rPr>
              <a:t>• YouTube links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468880"/>
            <a:ext cx="5669280" cy="1828800"/>
          </a:xfrm>
          <a:prstGeom prst="rect">
            <a:avLst/>
          </a:prstGeom>
          <a:solidFill>
            <a:srgbClr val="102A43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2560320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Smart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94436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LLM-based intent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26440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Clarifies before acting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58444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Audio auto-summarizes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90448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Context-aware follow-ups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20"/>
            <a:ext cx="5669280" cy="1828800"/>
          </a:xfrm>
          <a:prstGeom prst="rect">
            <a:avLst/>
          </a:prstGeom>
          <a:solidFill>
            <a:srgbClr val="102A43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4480560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All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486460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Whisper runs on-device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518464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BGE-M3 embeddings local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50468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Qdrant local file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582472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No sensitive data leaves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389120"/>
            <a:ext cx="5669280" cy="1828800"/>
          </a:xfrm>
          <a:prstGeom prst="rect">
            <a:avLst/>
          </a:prstGeom>
          <a:solidFill>
            <a:srgbClr val="102A43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2" y="4480560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Live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86460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WebSocket streaming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518464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Token-by-token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550468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Execution log panel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5824728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Per-request cost display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</a:rPr>
              <a:t>Everything the rubric asked for — and more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35608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5468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OCR extraction with confidence scoring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93976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984248"/>
            <a:ext cx="5468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PDF parsing + automatic OCR fallback for scanned pages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52344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642616"/>
            <a:ext cx="5468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Whisper speech-to-text with audio duration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10712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3300984"/>
            <a:ext cx="5468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YouTube transcript fetching from any URL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9080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959352"/>
            <a:ext cx="5468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Summarization: 1-line + 3 bullets + 5-sentence paragraph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435608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1325880"/>
            <a:ext cx="5468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Sentiment analysis: label + confidence + justification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093976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1984248"/>
            <a:ext cx="5468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Code explanation: language, bugs, time complexity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752344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8" y="2642616"/>
            <a:ext cx="5468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Action item extraction from meeting notes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410712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3300984"/>
            <a:ext cx="5468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RAG Q&amp;A using hybrid dense + sparse retrieval (RRF)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069080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10528" y="3959352"/>
            <a:ext cx="5468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Conversational answering for general questions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325880"/>
            <a:ext cx="12700" cy="411480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</a:rPr>
              <a:t>End-to-end request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843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User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854" y="1430020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AF0F8"/>
                </a:solidFill>
              </a:rPr>
              <a:t>Types a message or uploads a file. Session ID generated in browser.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25400" cy="18288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984248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0299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04266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854" y="2088388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CAF0F8"/>
                </a:solidFill>
              </a:rPr>
              <a:t>ExtractorRouter</a:t>
            </a:r>
            <a:r>
              <a:rPr sz="1100" b="0" dirty="0">
                <a:solidFill>
                  <a:srgbClr val="CAF0F8"/>
                </a:solidFill>
              </a:rPr>
              <a:t> picks the right service: OCR / </a:t>
            </a:r>
            <a:r>
              <a:rPr sz="1100" b="0" dirty="0" err="1">
                <a:solidFill>
                  <a:srgbClr val="CAF0F8"/>
                </a:solidFill>
              </a:rPr>
              <a:t>PyMuPDF</a:t>
            </a:r>
            <a:r>
              <a:rPr sz="1100" b="0" dirty="0">
                <a:solidFill>
                  <a:srgbClr val="CAF0F8"/>
                </a:solidFill>
              </a:rPr>
              <a:t> / Whisper / YouTube.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41448"/>
            <a:ext cx="25400" cy="18288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642616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6883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70103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Memory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854" y="2746756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AF0F8"/>
                </a:solidFill>
              </a:rPr>
              <a:t>If follow-up text: inject previous document context from </a:t>
            </a:r>
            <a:r>
              <a:rPr sz="1100" b="0" dirty="0" err="1">
                <a:solidFill>
                  <a:srgbClr val="CAF0F8"/>
                </a:solidFill>
              </a:rPr>
              <a:t>ConversationMemory</a:t>
            </a:r>
            <a:r>
              <a:rPr sz="1100" b="0" dirty="0">
                <a:solidFill>
                  <a:srgbClr val="CAF0F8"/>
                </a:solidFill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099816"/>
            <a:ext cx="25400" cy="18288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300984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34670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35940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Intent 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4854" y="3405124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CAF0F8"/>
                </a:solidFill>
              </a:rPr>
              <a:t>PlannerAgent</a:t>
            </a:r>
            <a:r>
              <a:rPr sz="1100" b="0" dirty="0">
                <a:solidFill>
                  <a:srgbClr val="CAF0F8"/>
                </a:solidFill>
              </a:rPr>
              <a:t> (</a:t>
            </a:r>
            <a:r>
              <a:rPr sz="1100" b="0" dirty="0" err="1">
                <a:solidFill>
                  <a:srgbClr val="CAF0F8"/>
                </a:solidFill>
              </a:rPr>
              <a:t>Groq</a:t>
            </a:r>
            <a:r>
              <a:rPr sz="1100" b="0" dirty="0">
                <a:solidFill>
                  <a:srgbClr val="CAF0F8"/>
                </a:solidFill>
              </a:rPr>
              <a:t> LLM) classifies task or asks a clarification question.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758184"/>
            <a:ext cx="25400" cy="18288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3959352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0050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0177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Task 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04854" y="4063492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AF0F8"/>
                </a:solidFill>
              </a:rPr>
              <a:t>Correct Executor is called via dynamic dispatch. Streams tokens over WebSocket.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416552"/>
            <a:ext cx="25400" cy="18288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461772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663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6761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RAG (if needed)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04854" y="4728912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100" dirty="0">
                <a:solidFill>
                  <a:srgbClr val="CAF0F8"/>
                </a:solidFill>
              </a:rPr>
              <a:t>D</a:t>
            </a:r>
            <a:r>
              <a:rPr sz="1100" b="0" dirty="0" err="1">
                <a:solidFill>
                  <a:srgbClr val="CAF0F8"/>
                </a:solidFill>
              </a:rPr>
              <a:t>ocument</a:t>
            </a:r>
            <a:r>
              <a:rPr sz="1100" b="0" dirty="0">
                <a:solidFill>
                  <a:srgbClr val="CAF0F8"/>
                </a:solidFill>
              </a:rPr>
              <a:t> Q&amp;A: BGE-M3 encodes query → </a:t>
            </a:r>
            <a:r>
              <a:rPr sz="1100" b="0" dirty="0" err="1">
                <a:solidFill>
                  <a:srgbClr val="CAF0F8"/>
                </a:solidFill>
              </a:rPr>
              <a:t>Qdrant</a:t>
            </a:r>
            <a:r>
              <a:rPr sz="1100" b="0" dirty="0">
                <a:solidFill>
                  <a:srgbClr val="CAF0F8"/>
                </a:solidFill>
              </a:rPr>
              <a:t> hybrid search → inject context.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74920"/>
            <a:ext cx="25400" cy="18288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5276088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53218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3345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Result Delivery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04854" y="5380228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AF0F8"/>
                </a:solidFill>
              </a:rPr>
              <a:t>Final answer + execution logs + cost estimate sent to the browser.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BC5B617-8BE7-F2EC-8CD8-16BD30B65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618" y="1279372"/>
            <a:ext cx="4924170" cy="49241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</a:rPr>
              <a:t>Multi-layer, event-driven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solidFill>
            <a:srgbClr val="103555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444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Browser / app.js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8745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HTTP POST + WebSocket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11247120" cy="1005840"/>
          </a:xfrm>
          <a:prstGeom prst="rect">
            <a:avLst/>
          </a:prstGeom>
          <a:solidFill>
            <a:srgbClr val="0A2E4A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5420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5420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FastAPI routes.py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971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Extraction · Memory · BG Task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11247120" cy="1005840"/>
          </a:xfrm>
          <a:prstGeom prst="rect">
            <a:avLst/>
          </a:prstGeom>
          <a:solidFill>
            <a:srgbClr val="072640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6393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Agent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6393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Orchestrator · Planner · Executors ·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0690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Dynamic dispatch · Streaming · Hybrid 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11247120" cy="1005840"/>
          </a:xfrm>
          <a:prstGeom prst="rect">
            <a:avLst/>
          </a:prstGeom>
          <a:solidFill>
            <a:srgbClr val="051E35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7365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7365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Groq API (cloud)  +  Qdrant + BGE-M3 (local)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166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LLM inference · Vector retrieval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</a:rPr>
              <a:t>Everything runs locally except the LLM API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749039" cy="2057400"/>
          </a:xfrm>
          <a:prstGeom prst="rect">
            <a:avLst/>
          </a:prstGeom>
          <a:solidFill>
            <a:srgbClr val="102A43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417320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80136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12140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Python 3.12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44144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Uvicorn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76148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LangChain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25880"/>
            <a:ext cx="3749039" cy="2057400"/>
          </a:xfrm>
          <a:prstGeom prst="rect">
            <a:avLst/>
          </a:prstGeom>
          <a:solidFill>
            <a:srgbClr val="102A43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62272" y="1417320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LLM /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80136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Groq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12140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Llama 3.3 70B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44144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LangChain Groq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76148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tiktoken (cost)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325880"/>
            <a:ext cx="3749039" cy="2057400"/>
          </a:xfrm>
          <a:prstGeom prst="rect">
            <a:avLst/>
          </a:prstGeom>
          <a:solidFill>
            <a:srgbClr val="102A43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94192" y="1417320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180136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Whisper (local)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12140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Tesseract OCR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44144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PyMuPDF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276148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YouTube Transcript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74720"/>
            <a:ext cx="3749039" cy="2057400"/>
          </a:xfrm>
          <a:prstGeom prst="rect">
            <a:avLst/>
          </a:prstGeom>
          <a:solidFill>
            <a:srgbClr val="102A43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3566160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RAG / Vectors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395020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Qdrant (local)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427024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BGE-M3 (local)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459028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FlagEmbedding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91032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RRF Fusion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474720"/>
            <a:ext cx="3749039" cy="2057400"/>
          </a:xfrm>
          <a:prstGeom prst="rect">
            <a:avLst/>
          </a:prstGeom>
          <a:solidFill>
            <a:srgbClr val="102A43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62272" y="3566160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2" y="395020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HTML / CSS / 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2" y="427024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WebSocket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2272" y="459028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Fetch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2" y="491032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marked.js (markdown)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474720"/>
            <a:ext cx="3749039" cy="2057400"/>
          </a:xfrm>
          <a:prstGeom prst="rect">
            <a:avLst/>
          </a:prstGeom>
          <a:solidFill>
            <a:srgbClr val="102A43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94192" y="3566160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Dev / Infra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395020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pytest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427024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python-dotenv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2" y="459028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pydantic-settings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192" y="4910328"/>
            <a:ext cx="3419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• FFmpeg + Tesseract (sys)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Bonus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</a:rPr>
              <a:t>Going beyond the rubric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715000" cy="1463040"/>
          </a:xfrm>
          <a:prstGeom prst="rect">
            <a:avLst/>
          </a:prstGeom>
          <a:solidFill>
            <a:srgbClr val="102A43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Multi-Agent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PlannerAgent and Executors are completely separate classes with no shared state.
Clean handoff: Planner classifies → Orchestrator dispatches → Executor streams.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715000" cy="1463040"/>
          </a:xfrm>
          <a:prstGeom prst="rect">
            <a:avLst/>
          </a:prstGeom>
          <a:solidFill>
            <a:srgbClr val="102A43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4630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Cost Estimator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4708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Every request shows an estimated API cost before execution using tiktoken token counts
and real Groq pricing ($0.59/1M input tokens). Displayed live in the UI.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26080"/>
            <a:ext cx="5715000" cy="1463040"/>
          </a:xfrm>
          <a:prstGeom prst="rect">
            <a:avLst/>
          </a:prstGeom>
          <a:solidFill>
            <a:srgbClr val="102A43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Hybrid RAG (Dense + Sparse)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0156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BGE-M3 generates both dense and sparse (lexical) vectors. Qdrant fuses results
using Reciprocal Rank Fusion for better accuracy than cosine similarity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926080"/>
            <a:ext cx="5715000" cy="1463040"/>
          </a:xfrm>
          <a:prstGeom prst="rect">
            <a:avLst/>
          </a:prstGeom>
          <a:solidFill>
            <a:srgbClr val="102A43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0175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Session Conversation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40156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ConversationMemory caches the last extracted document per session. Follow-up
messages automatically get document context injected — no re-upload needed.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80560"/>
            <a:ext cx="5715000" cy="1463040"/>
          </a:xfrm>
          <a:prstGeom prst="rect">
            <a:avLst/>
          </a:prstGeom>
          <a:solidFill>
            <a:srgbClr val="102A43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Audio Auto-Summarize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5604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If audio/video is uploaded with no explicit instruction, the orchestrator
bypasses the ambiguity check and defaults straight to summarization.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480560"/>
            <a:ext cx="5715000" cy="1463040"/>
          </a:xfrm>
          <a:prstGeom prst="rect">
            <a:avLst/>
          </a:prstGeom>
          <a:solidFill>
            <a:srgbClr val="102A43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45720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OCR Confidence 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95604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F0F8"/>
                </a:solidFill>
              </a:rPr>
              <a:t>Tesseract confidence scores are averaged per extraction. If avg &lt; 80%,
a warning is automatically prepended to the extracted 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B4D8"/>
                </a:solidFill>
              </a:rPr>
              <a:t>DataSmith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383280"/>
            <a:ext cx="487375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0" y="3657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AF0F8"/>
                </a:solidFill>
              </a:rPr>
              <a:t>✔  Multi-modal input (Text · Image · PDF · Audio · YouTube)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114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AF0F8"/>
                </a:solidFill>
              </a:rPr>
              <a:t>✔  Agentic intent detection with clarification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5720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AF0F8"/>
                </a:solidFill>
              </a:rPr>
              <a:t>✔  Real-time streaming via WebSocket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029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AF0F8"/>
                </a:solidFill>
              </a:rPr>
              <a:t>✔  Local RAG with hybrid dense + sparse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486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AF0F8"/>
                </a:solidFill>
              </a:rPr>
              <a:t>✔  Cost estimation  ·  OCR confidence scoring  ·  Audio duration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868</Words>
  <Application>Microsoft Office PowerPoint</Application>
  <PresentationFormat>Custom</PresentationFormat>
  <Paragraphs>137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Pratik Bhongade</cp:lastModifiedBy>
  <cp:revision>2</cp:revision>
  <dcterms:created xsi:type="dcterms:W3CDTF">2013-01-27T09:14:16Z</dcterms:created>
  <dcterms:modified xsi:type="dcterms:W3CDTF">2026-05-07T07:47:40Z</dcterms:modified>
  <cp:category/>
</cp:coreProperties>
</file>